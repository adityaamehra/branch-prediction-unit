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327" autoAdjust="0"/>
  </p:normalViewPr>
  <p:slideViewPr>
    <p:cSldViewPr snapToGrid="0">
      <p:cViewPr>
        <p:scale>
          <a:sx n="75" d="100"/>
          <a:sy n="75" d="100"/>
        </p:scale>
        <p:origin x="974"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2:04:27.865"/>
    </inkml:context>
    <inkml:brush xml:id="br0">
      <inkml:brushProperty name="width" value="0.035" units="cm"/>
      <inkml:brushProperty name="height" value="0.035" units="cm"/>
    </inkml:brush>
  </inkml:definitions>
  <inkml:trace contextRef="#ctx0" brushRef="#br0">1 27 24184,'2021'-27'0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2:04:31.839"/>
    </inkml:context>
    <inkml:brush xml:id="br0">
      <inkml:brushProperty name="width" value="0.035" units="cm"/>
      <inkml:brushProperty name="height" value="0.035" units="cm"/>
    </inkml:brush>
  </inkml:definitions>
  <inkml:trace contextRef="#ctx0" brushRef="#br0">0 984 22663,'27'-983'0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1T12:04:47.851"/>
    </inkml:context>
    <inkml:brush xml:id="br0">
      <inkml:brushProperty name="width" value="0.035" units="cm"/>
      <inkml:brushProperty name="height" value="0.035" units="cm"/>
    </inkml:brush>
  </inkml:definitions>
  <inkml:trace contextRef="#ctx0" brushRef="#br0">0 384 24575,'2'0'0,"0"0"0,0-1 0,1 1 0,-2-1 0,1 0 0,0 0 0,0 0 0,0 0 0,0 0 0,0 0 0,-1 0 0,1 0 0,0-1 0,2-2 0,21-26 0,-19 23 0,4-8 0,-1 1 0,0-2 0,10-23 0,-11 23 0,0-1 0,1 1 0,13-18 0,9-9 0,-21 28 0,0 0 0,2 1 0,-1 0 0,21-18 0,-28 29 0,0 0 0,1-1 0,0 1 0,0 1 0,0-1 0,0 1 0,0 0 0,0 0 0,1 0 0,-1 1 0,1 0 0,-1 0 0,1 0 0,-1 1 0,1 0 0,-1 0 0,1 0 0,10 3 0,-11-2 0,0 0 0,1 1 0,-1 0 0,0 0 0,0 0 0,0 1 0,-1-1 0,1 1 0,-1 0 0,1 1 0,-1-1 0,0 1 0,0 0 0,-1 0 0,1 0 0,-1 0 0,0 1 0,0-1 0,0 1 0,-1 0 0,1 0 0,2 9 0,2 10 0,-1 0 0,0 0 0,2 46 0,-2-20 0,-2-28-227,0-1-1,1 0 1,2-1-1,0 1 1,13 26-1,-8-22-6598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2F0FE3-BA6E-4B8A-9A20-A369FB29A908}" type="datetimeFigureOut">
              <a:rPr lang="en-IN" smtClean="0"/>
              <a:t>11-04-2026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C75A4-6080-42AA-BC9D-157D536BDF47}" type="slidenum">
              <a:rPr lang="en-IN" smtClean="0"/>
              <a:t>‹#›</a:t>
            </a:fld>
            <a:endParaRPr lang="en-IN"/>
          </a:p>
        </p:txBody>
      </p:sp>
    </p:spTree>
    <p:extLst>
      <p:ext uri="{BB962C8B-B14F-4D97-AF65-F5344CB8AC3E}">
        <p14:creationId xmlns:p14="http://schemas.microsoft.com/office/powerpoint/2010/main" val="191517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3647-E225-056B-DD98-E820B44DC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7CCCDC4-AECF-98BB-C989-D10C8E4C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1E39CEF-663D-1B87-2DD0-53C637916313}"/>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5" name="Footer Placeholder 4">
            <a:extLst>
              <a:ext uri="{FF2B5EF4-FFF2-40B4-BE49-F238E27FC236}">
                <a16:creationId xmlns:a16="http://schemas.microsoft.com/office/drawing/2014/main" id="{A2BBA7EE-E59B-10C2-1716-A94246D607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0F4CFC-8BB2-7CAD-D7F2-256EC13D86DE}"/>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779051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FFDCE-21BA-B328-84B2-014176E6DB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ADB164-01D8-4774-42E8-10F668DE8D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41BAEC0-19FE-1A0D-416B-D72358182FBD}"/>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5" name="Footer Placeholder 4">
            <a:extLst>
              <a:ext uri="{FF2B5EF4-FFF2-40B4-BE49-F238E27FC236}">
                <a16:creationId xmlns:a16="http://schemas.microsoft.com/office/drawing/2014/main" id="{0564EE93-382E-BFB7-16D6-ACA4496A2E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D61D5C-9F2D-B1CC-ECC2-F0862025346A}"/>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926417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7C5C-9B71-5359-4896-F3BFC48908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6D95D4-CBCD-E022-0EA4-CF679E2E72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007A46-B927-756B-CB6E-9E2AAE5C8C2A}"/>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5" name="Footer Placeholder 4">
            <a:extLst>
              <a:ext uri="{FF2B5EF4-FFF2-40B4-BE49-F238E27FC236}">
                <a16:creationId xmlns:a16="http://schemas.microsoft.com/office/drawing/2014/main" id="{E2040038-45B0-F4BC-2621-8C2FC4430A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7829C5-68AD-E102-8663-AECE054E96C2}"/>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2180727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06605-8DE5-4A3C-95D7-3361A975DB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498FEC-39B0-C96D-DD77-E3DEDD1AD1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C0DDF9-A416-F453-AB86-3544B8DE38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847B4B4-762A-ABCA-E4C7-EC6D0883B4D9}"/>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6" name="Footer Placeholder 5">
            <a:extLst>
              <a:ext uri="{FF2B5EF4-FFF2-40B4-BE49-F238E27FC236}">
                <a16:creationId xmlns:a16="http://schemas.microsoft.com/office/drawing/2014/main" id="{8C3E6FD5-5AEF-4B33-1DCD-55A1FA299A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08F605-EC08-2CA5-C5C7-5E1CCCD5D58A}"/>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803135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D82FD-1659-5A96-FCA0-8F1A53857AC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CF5C2A-E26B-C32F-E865-C3A2FB28B7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0776E8-DFD6-6E4F-8E6B-EA0E3B9460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E36E206-655F-47F1-9F01-C8648DEE65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C58231-E7CF-B1C4-4C8B-A0DA995BA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74BDD52-045A-9B66-A59C-09E29AE6DA06}"/>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8" name="Footer Placeholder 7">
            <a:extLst>
              <a:ext uri="{FF2B5EF4-FFF2-40B4-BE49-F238E27FC236}">
                <a16:creationId xmlns:a16="http://schemas.microsoft.com/office/drawing/2014/main" id="{35717F71-F01C-5439-F66C-6822BB9ECC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C1DE27C-B8EE-C471-FAA3-C370FF158FE1}"/>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588062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F5234-FE03-D053-F1EA-80F97DFE1C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CED977-3792-EFE7-CB29-459DEC5A984B}"/>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4" name="Footer Placeholder 3">
            <a:extLst>
              <a:ext uri="{FF2B5EF4-FFF2-40B4-BE49-F238E27FC236}">
                <a16:creationId xmlns:a16="http://schemas.microsoft.com/office/drawing/2014/main" id="{6DFC7BFE-419E-E0F8-9163-67815292688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1869C2-F9A1-7BA3-A444-9AB1756C5CCD}"/>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956562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FF577B-A4AA-F132-23F3-95D0EF20CD33}"/>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3" name="Footer Placeholder 2">
            <a:extLst>
              <a:ext uri="{FF2B5EF4-FFF2-40B4-BE49-F238E27FC236}">
                <a16:creationId xmlns:a16="http://schemas.microsoft.com/office/drawing/2014/main" id="{31943E09-9F06-4E8A-01F0-10691DECC0D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1B3D40-12D1-20ED-2993-93D16547788F}"/>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30845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AC84-6953-72DB-9456-20320CA47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D3A3E4-9C34-C843-24F8-B96D7B42FE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E65489A-494E-2E82-1642-536914C45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40DA64-EA06-5F71-4BFE-86880503E242}"/>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6" name="Footer Placeholder 5">
            <a:extLst>
              <a:ext uri="{FF2B5EF4-FFF2-40B4-BE49-F238E27FC236}">
                <a16:creationId xmlns:a16="http://schemas.microsoft.com/office/drawing/2014/main" id="{0A51ABD2-834D-2AFF-0E3D-8BF2692656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1ECC22-1100-5688-BFB7-D3EE931D48F2}"/>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352865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AF70-F052-D61B-F375-A36C5E1497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C15AD9-153A-61D2-AC86-6CFE6A6072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19EACA-01A9-D6EB-A34A-15C2EAC932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E21814-27F2-302F-F23B-622CA2465A5F}"/>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6" name="Footer Placeholder 5">
            <a:extLst>
              <a:ext uri="{FF2B5EF4-FFF2-40B4-BE49-F238E27FC236}">
                <a16:creationId xmlns:a16="http://schemas.microsoft.com/office/drawing/2014/main" id="{B28EFACA-EF1D-EC2F-470E-0CEE0F2F79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A10B9A-5619-C14A-8242-074E9DA3520A}"/>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2672732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E3E67-28D6-A240-474F-22D6DFBC7B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F900BD-E540-A392-12A0-2ACF368C2B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6423EF-9F57-637B-8800-B28067ABF5FC}"/>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5" name="Footer Placeholder 4">
            <a:extLst>
              <a:ext uri="{FF2B5EF4-FFF2-40B4-BE49-F238E27FC236}">
                <a16:creationId xmlns:a16="http://schemas.microsoft.com/office/drawing/2014/main" id="{23FB614D-9244-FF7F-9207-AE916D4C3D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394D3E-63A7-647B-7E89-4D303610D771}"/>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2674056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3C4CF8-E059-C03A-EC24-C84E121F26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2506249-9BB6-1A20-17A3-0BA2AAD1A7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81B428-5629-2ABE-9E84-0FCB6FAE001A}"/>
              </a:ext>
            </a:extLst>
          </p:cNvPr>
          <p:cNvSpPr>
            <a:spLocks noGrp="1"/>
          </p:cNvSpPr>
          <p:nvPr>
            <p:ph type="dt" sz="half" idx="10"/>
          </p:nvPr>
        </p:nvSpPr>
        <p:spPr/>
        <p:txBody>
          <a:bodyPr/>
          <a:lstStyle/>
          <a:p>
            <a:fld id="{162FEE4B-565A-4E11-A800-65FE4FB7430A}" type="datetimeFigureOut">
              <a:rPr lang="en-IN" smtClean="0"/>
              <a:t>11-04-2026</a:t>
            </a:fld>
            <a:endParaRPr lang="en-IN"/>
          </a:p>
        </p:txBody>
      </p:sp>
      <p:sp>
        <p:nvSpPr>
          <p:cNvPr id="5" name="Footer Placeholder 4">
            <a:extLst>
              <a:ext uri="{FF2B5EF4-FFF2-40B4-BE49-F238E27FC236}">
                <a16:creationId xmlns:a16="http://schemas.microsoft.com/office/drawing/2014/main" id="{8D303947-63BC-2C0C-87CF-2C3D8F6A70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9DA8F2-D7C0-67EE-8AE0-3587713556EF}"/>
              </a:ext>
            </a:extLst>
          </p:cNvPr>
          <p:cNvSpPr>
            <a:spLocks noGrp="1"/>
          </p:cNvSpPr>
          <p:nvPr>
            <p:ph type="sldNum" sz="quarter" idx="12"/>
          </p:nvPr>
        </p:nvSpPr>
        <p:spPr/>
        <p:txBody>
          <a:bodyPr/>
          <a:lstStyle/>
          <a:p>
            <a:fld id="{6C747343-273E-4615-90AF-18ACEEDA5259}" type="slidenum">
              <a:rPr lang="en-IN" smtClean="0"/>
              <a:t>‹#›</a:t>
            </a:fld>
            <a:endParaRPr lang="en-IN"/>
          </a:p>
        </p:txBody>
      </p:sp>
    </p:spTree>
    <p:extLst>
      <p:ext uri="{BB962C8B-B14F-4D97-AF65-F5344CB8AC3E}">
        <p14:creationId xmlns:p14="http://schemas.microsoft.com/office/powerpoint/2010/main" val="4261949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4D86D7-FA9F-46AE-5964-1351F1F6A4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A2CF2E-A376-EED9-413F-F864B1C6FE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A8B0EA-540D-9B4A-D087-CC75305389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FEE4B-565A-4E11-A800-65FE4FB7430A}" type="datetimeFigureOut">
              <a:rPr lang="en-IN" smtClean="0"/>
              <a:t>11-04-2026</a:t>
            </a:fld>
            <a:endParaRPr lang="en-IN"/>
          </a:p>
        </p:txBody>
      </p:sp>
      <p:sp>
        <p:nvSpPr>
          <p:cNvPr id="5" name="Footer Placeholder 4">
            <a:extLst>
              <a:ext uri="{FF2B5EF4-FFF2-40B4-BE49-F238E27FC236}">
                <a16:creationId xmlns:a16="http://schemas.microsoft.com/office/drawing/2014/main" id="{7A60795C-8448-1E7A-D5D7-30683A7ECD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7E96AB-4ED2-36A0-81FD-205BD111B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747343-273E-4615-90AF-18ACEEDA5259}" type="slidenum">
              <a:rPr lang="en-IN" smtClean="0"/>
              <a:t>‹#›</a:t>
            </a:fld>
            <a:endParaRPr lang="en-IN"/>
          </a:p>
        </p:txBody>
      </p:sp>
    </p:spTree>
    <p:extLst>
      <p:ext uri="{BB962C8B-B14F-4D97-AF65-F5344CB8AC3E}">
        <p14:creationId xmlns:p14="http://schemas.microsoft.com/office/powerpoint/2010/main" val="2616329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customXml" Target="../ink/ink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19000">
              <a:srgbClr val="00B050"/>
            </a:gs>
            <a:gs pos="66000">
              <a:schemeClr val="accent1">
                <a:lumMod val="45000"/>
                <a:lumOff val="55000"/>
              </a:schemeClr>
            </a:gs>
            <a:gs pos="81000">
              <a:schemeClr val="accent1">
                <a:lumMod val="45000"/>
                <a:lumOff val="55000"/>
              </a:schemeClr>
            </a:gs>
            <a:gs pos="100000">
              <a:schemeClr val="accent1">
                <a:lumMod val="30000"/>
                <a:lumOff val="70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72B72-3C6A-C6B9-9FCB-CDD8EC9ABC00}"/>
              </a:ext>
            </a:extLst>
          </p:cNvPr>
          <p:cNvSpPr>
            <a:spLocks noGrp="1"/>
          </p:cNvSpPr>
          <p:nvPr>
            <p:ph type="title"/>
          </p:nvPr>
        </p:nvSpPr>
        <p:spPr/>
        <p:txBody>
          <a:bodyPr/>
          <a:lstStyle/>
          <a:p>
            <a:pPr algn="ctr"/>
            <a:r>
              <a:rPr lang="en-IN" b="1" u="sng" dirty="0">
                <a:highlight>
                  <a:srgbClr val="FFFF00"/>
                </a:highlight>
              </a:rPr>
              <a:t>BRANCH PREDICTION UNIT (BPU)</a:t>
            </a:r>
          </a:p>
        </p:txBody>
      </p:sp>
      <p:sp>
        <p:nvSpPr>
          <p:cNvPr id="5" name="Content Placeholder 4">
            <a:extLst>
              <a:ext uri="{FF2B5EF4-FFF2-40B4-BE49-F238E27FC236}">
                <a16:creationId xmlns:a16="http://schemas.microsoft.com/office/drawing/2014/main" id="{42C55FAD-34DA-8701-0D11-ED527D1E89F3}"/>
              </a:ext>
            </a:extLst>
          </p:cNvPr>
          <p:cNvSpPr>
            <a:spLocks noGrp="1"/>
          </p:cNvSpPr>
          <p:nvPr>
            <p:ph idx="1"/>
          </p:nvPr>
        </p:nvSpPr>
        <p:spPr/>
        <p:txBody>
          <a:bodyPr/>
          <a:lstStyle/>
          <a:p>
            <a:r>
              <a:rPr lang="en-IN" dirty="0"/>
              <a:t>Presentation by,</a:t>
            </a:r>
          </a:p>
          <a:p>
            <a:pPr lvl="5"/>
            <a:r>
              <a:rPr lang="en-IN" sz="2400" dirty="0"/>
              <a:t>PRATYUSH</a:t>
            </a:r>
          </a:p>
          <a:p>
            <a:pPr lvl="5"/>
            <a:r>
              <a:rPr lang="en-IN" sz="2400" dirty="0"/>
              <a:t>K.S.SETHURATHNAM</a:t>
            </a:r>
          </a:p>
          <a:p>
            <a:pPr lvl="5"/>
            <a:r>
              <a:rPr lang="en-IN" sz="2400" dirty="0"/>
              <a:t>ADITYA MEHRA</a:t>
            </a:r>
          </a:p>
          <a:p>
            <a:pPr lvl="5"/>
            <a:r>
              <a:rPr lang="en-IN" sz="2400" dirty="0"/>
              <a:t>RIDHI</a:t>
            </a:r>
          </a:p>
        </p:txBody>
      </p:sp>
    </p:spTree>
    <p:extLst>
      <p:ext uri="{BB962C8B-B14F-4D97-AF65-F5344CB8AC3E}">
        <p14:creationId xmlns:p14="http://schemas.microsoft.com/office/powerpoint/2010/main" val="786553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D0A0F-5F17-4738-A64D-F125CCCD2A7E}"/>
              </a:ext>
            </a:extLst>
          </p:cNvPr>
          <p:cNvSpPr>
            <a:spLocks noGrp="1"/>
          </p:cNvSpPr>
          <p:nvPr>
            <p:ph type="title"/>
          </p:nvPr>
        </p:nvSpPr>
        <p:spPr/>
        <p:txBody>
          <a:bodyPr>
            <a:normAutofit/>
          </a:bodyPr>
          <a:lstStyle/>
          <a:p>
            <a:r>
              <a:rPr lang="en-IN" sz="2800" b="1" u="sng" dirty="0">
                <a:latin typeface="Times New Roman" panose="02020603050405020304" pitchFamily="18" charset="0"/>
                <a:cs typeface="Times New Roman" panose="02020603050405020304" pitchFamily="18" charset="0"/>
              </a:rPr>
              <a:t>What is branch prediction and why we need it inside a processor?</a:t>
            </a:r>
          </a:p>
        </p:txBody>
      </p:sp>
      <p:sp>
        <p:nvSpPr>
          <p:cNvPr id="3" name="Content Placeholder 2">
            <a:extLst>
              <a:ext uri="{FF2B5EF4-FFF2-40B4-BE49-F238E27FC236}">
                <a16:creationId xmlns:a16="http://schemas.microsoft.com/office/drawing/2014/main" id="{9D4EB9E5-2055-D3F4-A867-B6F695F0B226}"/>
              </a:ext>
            </a:extLst>
          </p:cNvPr>
          <p:cNvSpPr>
            <a:spLocks noGrp="1"/>
          </p:cNvSpPr>
          <p:nvPr>
            <p:ph idx="1"/>
          </p:nvPr>
        </p:nvSpPr>
        <p:spPr/>
        <p:txBody>
          <a:bodyPr/>
          <a:lstStyle/>
          <a:p>
            <a:r>
              <a:rPr lang="en-IN" dirty="0"/>
              <a:t>To know about the branch prediction and the need of it we need to look into the pipelined processor and hazards associated with it.</a:t>
            </a:r>
          </a:p>
          <a:p>
            <a:r>
              <a:rPr lang="en-IN" dirty="0"/>
              <a:t>Processors are pipelined to achieve extreme computing speed and to compute more number of instruction and data in less time and less number of machine cycles.</a:t>
            </a:r>
          </a:p>
          <a:p>
            <a:r>
              <a:rPr lang="en-IN" dirty="0"/>
              <a:t>Due to pipelining there is a hazard associated with it called </a:t>
            </a:r>
          </a:p>
          <a:p>
            <a:pPr marL="0" indent="0">
              <a:buNone/>
            </a:pPr>
            <a:endParaRPr lang="en-IN" dirty="0"/>
          </a:p>
          <a:p>
            <a:pPr marL="0" indent="0" algn="ctr">
              <a:buNone/>
            </a:pPr>
            <a:r>
              <a:rPr lang="en-IN" b="1" dirty="0"/>
              <a:t>CONTROL HAZARD !!!!</a:t>
            </a:r>
          </a:p>
        </p:txBody>
      </p:sp>
    </p:spTree>
    <p:extLst>
      <p:ext uri="{BB962C8B-B14F-4D97-AF65-F5344CB8AC3E}">
        <p14:creationId xmlns:p14="http://schemas.microsoft.com/office/powerpoint/2010/main" val="785940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3601F-A8E5-3EC7-8B43-588B9D7F98C4}"/>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EF9886F4-1E9E-53D3-A9ED-4981465947A4}"/>
              </a:ext>
            </a:extLst>
          </p:cNvPr>
          <p:cNvSpPr>
            <a:spLocks noGrp="1"/>
          </p:cNvSpPr>
          <p:nvPr>
            <p:ph idx="1"/>
          </p:nvPr>
        </p:nvSpPr>
        <p:spPr>
          <a:xfrm>
            <a:off x="838200" y="365125"/>
            <a:ext cx="10515600" cy="5811838"/>
          </a:xfrm>
        </p:spPr>
        <p:txBody>
          <a:bodyPr/>
          <a:lstStyle/>
          <a:p>
            <a:pPr marL="0" indent="0">
              <a:buNone/>
            </a:pPr>
            <a:r>
              <a:rPr lang="en-IN" dirty="0"/>
              <a:t>We are considering a 5 stage pipelined processor here </a:t>
            </a:r>
          </a:p>
          <a:p>
            <a:pPr marL="0" indent="0">
              <a:buNone/>
            </a:pPr>
            <a:endParaRPr lang="en-IN" dirty="0"/>
          </a:p>
          <a:p>
            <a:pPr marL="0" indent="0" algn="ctr">
              <a:buNone/>
            </a:pPr>
            <a:r>
              <a:rPr lang="en-IN" dirty="0"/>
              <a:t>IF -&gt; ID -&gt; EX -&gt; MEM -&gt; WB</a:t>
            </a:r>
          </a:p>
          <a:p>
            <a:pPr marL="0" indent="0" algn="ctr">
              <a:buNone/>
            </a:pPr>
            <a:endParaRPr lang="en-IN" dirty="0"/>
          </a:p>
        </p:txBody>
      </p:sp>
      <p:pic>
        <p:nvPicPr>
          <p:cNvPr id="5" name="Picture 4">
            <a:extLst>
              <a:ext uri="{FF2B5EF4-FFF2-40B4-BE49-F238E27FC236}">
                <a16:creationId xmlns:a16="http://schemas.microsoft.com/office/drawing/2014/main" id="{2F42F255-35A3-927B-CE9B-7747C0450C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23736" y="-25247"/>
            <a:ext cx="4624746" cy="8411498"/>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5DFD7DEF-9AAD-29CC-637C-25CAB296ABFA}"/>
                  </a:ext>
                </a:extLst>
              </p14:cNvPr>
              <p14:cNvContentPartPr/>
              <p14:nvPr/>
            </p14:nvContentPartPr>
            <p14:xfrm>
              <a:off x="7196737" y="6656268"/>
              <a:ext cx="728280" cy="10080"/>
            </p14:xfrm>
          </p:contentPart>
        </mc:Choice>
        <mc:Fallback>
          <p:pic>
            <p:nvPicPr>
              <p:cNvPr id="7" name="Ink 6">
                <a:extLst>
                  <a:ext uri="{FF2B5EF4-FFF2-40B4-BE49-F238E27FC236}">
                    <a16:creationId xmlns:a16="http://schemas.microsoft.com/office/drawing/2014/main" id="{5DFD7DEF-9AAD-29CC-637C-25CAB296ABFA}"/>
                  </a:ext>
                </a:extLst>
              </p:cNvPr>
              <p:cNvPicPr/>
              <p:nvPr/>
            </p:nvPicPr>
            <p:blipFill>
              <a:blip r:embed="rId4"/>
              <a:stretch>
                <a:fillRect/>
              </a:stretch>
            </p:blipFill>
            <p:spPr>
              <a:xfrm>
                <a:off x="7190617" y="6649788"/>
                <a:ext cx="7405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9" name="Ink 8">
                <a:extLst>
                  <a:ext uri="{FF2B5EF4-FFF2-40B4-BE49-F238E27FC236}">
                    <a16:creationId xmlns:a16="http://schemas.microsoft.com/office/drawing/2014/main" id="{F2B4AD6E-24BA-9A03-CA83-D7E78EB1C091}"/>
                  </a:ext>
                </a:extLst>
              </p14:cNvPr>
              <p14:cNvContentPartPr/>
              <p14:nvPr/>
            </p14:nvContentPartPr>
            <p14:xfrm>
              <a:off x="7924657" y="6302028"/>
              <a:ext cx="10080" cy="354240"/>
            </p14:xfrm>
          </p:contentPart>
        </mc:Choice>
        <mc:Fallback>
          <p:pic>
            <p:nvPicPr>
              <p:cNvPr id="9" name="Ink 8">
                <a:extLst>
                  <a:ext uri="{FF2B5EF4-FFF2-40B4-BE49-F238E27FC236}">
                    <a16:creationId xmlns:a16="http://schemas.microsoft.com/office/drawing/2014/main" id="{F2B4AD6E-24BA-9A03-CA83-D7E78EB1C091}"/>
                  </a:ext>
                </a:extLst>
              </p:cNvPr>
              <p:cNvPicPr/>
              <p:nvPr/>
            </p:nvPicPr>
            <p:blipFill>
              <a:blip r:embed="rId6"/>
              <a:stretch>
                <a:fillRect/>
              </a:stretch>
            </p:blipFill>
            <p:spPr>
              <a:xfrm>
                <a:off x="7918537" y="6295908"/>
                <a:ext cx="22320" cy="3664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113136DE-5610-0F66-FE5D-32E52A55BA0D}"/>
                  </a:ext>
                </a:extLst>
              </p14:cNvPr>
              <p14:cNvContentPartPr/>
              <p14:nvPr/>
            </p14:nvContentPartPr>
            <p14:xfrm>
              <a:off x="7826377" y="6183588"/>
              <a:ext cx="201240" cy="165240"/>
            </p14:xfrm>
          </p:contentPart>
        </mc:Choice>
        <mc:Fallback>
          <p:pic>
            <p:nvPicPr>
              <p:cNvPr id="11" name="Ink 10">
                <a:extLst>
                  <a:ext uri="{FF2B5EF4-FFF2-40B4-BE49-F238E27FC236}">
                    <a16:creationId xmlns:a16="http://schemas.microsoft.com/office/drawing/2014/main" id="{113136DE-5610-0F66-FE5D-32E52A55BA0D}"/>
                  </a:ext>
                </a:extLst>
              </p:cNvPr>
              <p:cNvPicPr/>
              <p:nvPr/>
            </p:nvPicPr>
            <p:blipFill>
              <a:blip r:embed="rId8"/>
              <a:stretch>
                <a:fillRect/>
              </a:stretch>
            </p:blipFill>
            <p:spPr>
              <a:xfrm>
                <a:off x="7820257" y="6177468"/>
                <a:ext cx="213480" cy="177480"/>
              </a:xfrm>
              <a:prstGeom prst="rect">
                <a:avLst/>
              </a:prstGeom>
            </p:spPr>
          </p:pic>
        </mc:Fallback>
      </mc:AlternateContent>
      <p:sp>
        <p:nvSpPr>
          <p:cNvPr id="12" name="TextBox 11">
            <a:extLst>
              <a:ext uri="{FF2B5EF4-FFF2-40B4-BE49-F238E27FC236}">
                <a16:creationId xmlns:a16="http://schemas.microsoft.com/office/drawing/2014/main" id="{7B446B49-3E9B-3353-5392-44A8874701F8}"/>
              </a:ext>
            </a:extLst>
          </p:cNvPr>
          <p:cNvSpPr txBox="1"/>
          <p:nvPr/>
        </p:nvSpPr>
        <p:spPr>
          <a:xfrm>
            <a:off x="2030359" y="6492875"/>
            <a:ext cx="5437239" cy="369332"/>
          </a:xfrm>
          <a:prstGeom prst="rect">
            <a:avLst/>
          </a:prstGeom>
          <a:noFill/>
        </p:spPr>
        <p:txBody>
          <a:bodyPr wrap="square" rtlCol="0">
            <a:spAutoFit/>
          </a:bodyPr>
          <a:lstStyle/>
          <a:p>
            <a:r>
              <a:rPr lang="en-IN" dirty="0"/>
              <a:t>FIRST INSTRUCTION EXECUTED AFTER 5</a:t>
            </a:r>
            <a:r>
              <a:rPr lang="en-IN" baseline="30000" dirty="0"/>
              <a:t>TH</a:t>
            </a:r>
            <a:r>
              <a:rPr lang="en-IN" dirty="0"/>
              <a:t> CLOCK EDGE </a:t>
            </a:r>
          </a:p>
        </p:txBody>
      </p:sp>
    </p:spTree>
    <p:extLst>
      <p:ext uri="{BB962C8B-B14F-4D97-AF65-F5344CB8AC3E}">
        <p14:creationId xmlns:p14="http://schemas.microsoft.com/office/powerpoint/2010/main" val="2045155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9C564-2BB3-18B2-1D2E-E09BF5A0C19F}"/>
              </a:ext>
            </a:extLst>
          </p:cNvPr>
          <p:cNvSpPr>
            <a:spLocks noGrp="1"/>
          </p:cNvSpPr>
          <p:nvPr>
            <p:ph type="title"/>
          </p:nvPr>
        </p:nvSpPr>
        <p:spPr>
          <a:xfrm>
            <a:off x="838200" y="-360156"/>
            <a:ext cx="10515600" cy="1471201"/>
          </a:xfrm>
        </p:spPr>
        <p:txBody>
          <a:bodyPr>
            <a:normAutofit/>
          </a:bodyPr>
          <a:lstStyle/>
          <a:p>
            <a:r>
              <a:rPr lang="en-IN" sz="3600" b="1" u="sng" dirty="0"/>
              <a:t>CONTROL HAZARD</a:t>
            </a:r>
          </a:p>
        </p:txBody>
      </p:sp>
      <p:sp>
        <p:nvSpPr>
          <p:cNvPr id="3" name="Content Placeholder 2">
            <a:extLst>
              <a:ext uri="{FF2B5EF4-FFF2-40B4-BE49-F238E27FC236}">
                <a16:creationId xmlns:a16="http://schemas.microsoft.com/office/drawing/2014/main" id="{DA8D4494-4F29-A2D0-6E63-4BCF6ECD9B4F}"/>
              </a:ext>
            </a:extLst>
          </p:cNvPr>
          <p:cNvSpPr>
            <a:spLocks noGrp="1"/>
          </p:cNvSpPr>
          <p:nvPr>
            <p:ph idx="1"/>
          </p:nvPr>
        </p:nvSpPr>
        <p:spPr>
          <a:xfrm>
            <a:off x="838200" y="580103"/>
            <a:ext cx="10515600" cy="5596861"/>
          </a:xfrm>
        </p:spPr>
        <p:txBody>
          <a:bodyPr/>
          <a:lstStyle/>
          <a:p>
            <a:r>
              <a:rPr lang="en-IN" sz="2400" dirty="0"/>
              <a:t>Control hazard comes in the picture in case of pipelined processor when there is branch and jump related instructions present in the ISA.</a:t>
            </a:r>
          </a:p>
          <a:p>
            <a:pPr marL="3657600" lvl="8" indent="0">
              <a:buNone/>
            </a:pPr>
            <a:endParaRPr lang="en-IN" sz="400" dirty="0"/>
          </a:p>
          <a:p>
            <a:pPr marL="0" indent="0">
              <a:buNone/>
            </a:pPr>
            <a:r>
              <a:rPr lang="en-IN" dirty="0"/>
              <a:t>						</a:t>
            </a:r>
            <a:r>
              <a:rPr lang="en-IN" sz="2400" dirty="0"/>
              <a:t>if we analyse this code we could 							see there are conditions and loops </a:t>
            </a:r>
          </a:p>
          <a:p>
            <a:pPr marL="0" indent="0">
              <a:buNone/>
            </a:pPr>
            <a:r>
              <a:rPr lang="en-IN" sz="2400" dirty="0"/>
              <a:t>						present and when these code 							got compiled these loops and 							conditional statements represents 							branches and jumps in the machine 							level code.</a:t>
            </a:r>
            <a:endParaRPr lang="en-IN" dirty="0"/>
          </a:p>
        </p:txBody>
      </p:sp>
      <p:pic>
        <p:nvPicPr>
          <p:cNvPr id="5" name="Picture 4">
            <a:extLst>
              <a:ext uri="{FF2B5EF4-FFF2-40B4-BE49-F238E27FC236}">
                <a16:creationId xmlns:a16="http://schemas.microsoft.com/office/drawing/2014/main" id="{423D83D7-94B8-1F08-AA66-D8425AD7CD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375" y="1257196"/>
            <a:ext cx="4529990" cy="5629451"/>
          </a:xfrm>
          <a:prstGeom prst="rect">
            <a:avLst/>
          </a:prstGeom>
        </p:spPr>
      </p:pic>
    </p:spTree>
    <p:extLst>
      <p:ext uri="{BB962C8B-B14F-4D97-AF65-F5344CB8AC3E}">
        <p14:creationId xmlns:p14="http://schemas.microsoft.com/office/powerpoint/2010/main" val="925597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4C048-0B75-733B-BE72-D2CB77843C1B}"/>
              </a:ext>
            </a:extLst>
          </p:cNvPr>
          <p:cNvSpPr>
            <a:spLocks noGrp="1"/>
          </p:cNvSpPr>
          <p:nvPr>
            <p:ph type="title"/>
          </p:nvPr>
        </p:nvSpPr>
        <p:spPr>
          <a:xfrm rot="10800000" flipV="1">
            <a:off x="838200" y="5829300"/>
            <a:ext cx="10515600" cy="654626"/>
          </a:xfrm>
        </p:spPr>
        <p:txBody>
          <a:bodyPr>
            <a:normAutofit fontScale="90000"/>
          </a:bodyPr>
          <a:lstStyle/>
          <a:p>
            <a:r>
              <a:rPr lang="en-IN" sz="2000" dirty="0">
                <a:latin typeface="Times New Roman" panose="02020603050405020304" pitchFamily="18" charset="0"/>
                <a:cs typeface="Times New Roman" panose="02020603050405020304" pitchFamily="18" charset="0"/>
              </a:rPr>
              <a:t>here because the branch instruction condition is getting checked at EX stage the processor loads the next two instructions sequentially which is wrong if the branch is taken and condition satisfied and this leads to the flushing of the pipeline and loading the correct instructions again and spoiling the pipeline and thus </a:t>
            </a:r>
            <a:r>
              <a:rPr lang="en-IN" sz="2000" b="1" u="sng" dirty="0">
                <a:latin typeface="Times New Roman" panose="02020603050405020304" pitchFamily="18" charset="0"/>
                <a:cs typeface="Times New Roman" panose="02020603050405020304" pitchFamily="18" charset="0"/>
              </a:rPr>
              <a:t>spoiling the IPC of the processor </a:t>
            </a:r>
          </a:p>
        </p:txBody>
      </p:sp>
      <p:pic>
        <p:nvPicPr>
          <p:cNvPr id="5" name="Content Placeholder 4">
            <a:extLst>
              <a:ext uri="{FF2B5EF4-FFF2-40B4-BE49-F238E27FC236}">
                <a16:creationId xmlns:a16="http://schemas.microsoft.com/office/drawing/2014/main" id="{32BBF4E4-FCC2-15D6-2C5C-2B6BD18A34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3117274" y="-2940628"/>
            <a:ext cx="5455227" cy="11689771"/>
          </a:xfrm>
          <a:prstGeom prst="rect">
            <a:avLst/>
          </a:prstGeom>
        </p:spPr>
      </p:pic>
    </p:spTree>
    <p:extLst>
      <p:ext uri="{BB962C8B-B14F-4D97-AF65-F5344CB8AC3E}">
        <p14:creationId xmlns:p14="http://schemas.microsoft.com/office/powerpoint/2010/main" val="490852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3D4F-5DD1-7D2E-4295-088F9A06D893}"/>
              </a:ext>
            </a:extLst>
          </p:cNvPr>
          <p:cNvSpPr>
            <a:spLocks noGrp="1"/>
          </p:cNvSpPr>
          <p:nvPr>
            <p:ph type="title"/>
          </p:nvPr>
        </p:nvSpPr>
        <p:spPr/>
        <p:txBody>
          <a:bodyPr/>
          <a:lstStyle/>
          <a:p>
            <a:endParaRPr lang="en-IN"/>
          </a:p>
        </p:txBody>
      </p:sp>
      <p:pic>
        <p:nvPicPr>
          <p:cNvPr id="7" name="Content Placeholder 6">
            <a:extLst>
              <a:ext uri="{FF2B5EF4-FFF2-40B4-BE49-F238E27FC236}">
                <a16:creationId xmlns:a16="http://schemas.microsoft.com/office/drawing/2014/main" id="{8CF3D068-2954-23D3-26A6-CA04917C8D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9155" y="365124"/>
            <a:ext cx="11066317" cy="5994111"/>
          </a:xfrm>
          <a:prstGeom prst="rect">
            <a:avLst/>
          </a:prstGeom>
        </p:spPr>
      </p:pic>
    </p:spTree>
    <p:extLst>
      <p:ext uri="{BB962C8B-B14F-4D97-AF65-F5344CB8AC3E}">
        <p14:creationId xmlns:p14="http://schemas.microsoft.com/office/powerpoint/2010/main" val="1254294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FB8F3-AEB3-6296-B055-E709ACACF698}"/>
              </a:ext>
            </a:extLst>
          </p:cNvPr>
          <p:cNvSpPr>
            <a:spLocks noGrp="1"/>
          </p:cNvSpPr>
          <p:nvPr>
            <p:ph type="title"/>
          </p:nvPr>
        </p:nvSpPr>
        <p:spPr/>
        <p:txBody>
          <a:bodyPr/>
          <a:lstStyle/>
          <a:p>
            <a:r>
              <a:rPr lang="en-IN" b="1" u="sng" dirty="0"/>
              <a:t>Choosing the GEM5 as the simulator to work on the RISCV isa processor </a:t>
            </a:r>
          </a:p>
        </p:txBody>
      </p:sp>
      <p:sp>
        <p:nvSpPr>
          <p:cNvPr id="3" name="Content Placeholder 2">
            <a:extLst>
              <a:ext uri="{FF2B5EF4-FFF2-40B4-BE49-F238E27FC236}">
                <a16:creationId xmlns:a16="http://schemas.microsoft.com/office/drawing/2014/main" id="{982CF9D2-3E80-475A-85E5-783C87829561}"/>
              </a:ext>
            </a:extLst>
          </p:cNvPr>
          <p:cNvSpPr>
            <a:spLocks noGrp="1"/>
          </p:cNvSpPr>
          <p:nvPr>
            <p:ph idx="1"/>
          </p:nvPr>
        </p:nvSpPr>
        <p:spPr/>
        <p:txBody>
          <a:bodyPr/>
          <a:lstStyle/>
          <a:p>
            <a:r>
              <a:rPr lang="en-IN" dirty="0"/>
              <a:t>Gem5 is an opensource tool which allows the users to work with different kind of processor they are having in their library and also it allows the users to give different workload to the processors available to analyse the properties related to it.</a:t>
            </a:r>
          </a:p>
          <a:p>
            <a:r>
              <a:rPr lang="en-IN" dirty="0"/>
              <a:t>So we choose gem5 as our environment to work on to decide which branch prediction algorithm to work on by analysing the results generated through the simulation on giving different kind of workloads to processor by integrating with different kind of branch prediction algorithms.</a:t>
            </a:r>
          </a:p>
        </p:txBody>
      </p:sp>
    </p:spTree>
    <p:extLst>
      <p:ext uri="{BB962C8B-B14F-4D97-AF65-F5344CB8AC3E}">
        <p14:creationId xmlns:p14="http://schemas.microsoft.com/office/powerpoint/2010/main" val="90533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C9C11-E98B-B247-E8D8-9EC62EF1CC1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CD7282D-53F1-08F6-E7F7-87AC7D9D3D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2070" y="142298"/>
            <a:ext cx="3420940" cy="5508412"/>
          </a:xfrm>
          <a:prstGeom prst="rect">
            <a:avLst/>
          </a:prstGeom>
        </p:spPr>
      </p:pic>
      <p:pic>
        <p:nvPicPr>
          <p:cNvPr id="7" name="Picture 6">
            <a:extLst>
              <a:ext uri="{FF2B5EF4-FFF2-40B4-BE49-F238E27FC236}">
                <a16:creationId xmlns:a16="http://schemas.microsoft.com/office/drawing/2014/main" id="{F47556AC-FAEF-6F5C-A27F-26A13E6830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299" y="795948"/>
            <a:ext cx="6401693" cy="4201111"/>
          </a:xfrm>
          <a:prstGeom prst="rect">
            <a:avLst/>
          </a:prstGeom>
        </p:spPr>
      </p:pic>
      <p:sp>
        <p:nvSpPr>
          <p:cNvPr id="11" name="TextBox 10">
            <a:extLst>
              <a:ext uri="{FF2B5EF4-FFF2-40B4-BE49-F238E27FC236}">
                <a16:creationId xmlns:a16="http://schemas.microsoft.com/office/drawing/2014/main" id="{CF745124-AE86-8535-CA8A-AC9355D8A072}"/>
              </a:ext>
            </a:extLst>
          </p:cNvPr>
          <p:cNvSpPr txBox="1"/>
          <p:nvPr/>
        </p:nvSpPr>
        <p:spPr>
          <a:xfrm>
            <a:off x="1246909" y="5921934"/>
            <a:ext cx="2898679" cy="369332"/>
          </a:xfrm>
          <a:prstGeom prst="rect">
            <a:avLst/>
          </a:prstGeom>
          <a:noFill/>
        </p:spPr>
        <p:txBody>
          <a:bodyPr wrap="none" rtlCol="0">
            <a:spAutoFit/>
          </a:bodyPr>
          <a:lstStyle/>
          <a:p>
            <a:r>
              <a:rPr lang="en-IN" dirty="0"/>
              <a:t>GLOBAL BRANCH PREDICTOR</a:t>
            </a:r>
          </a:p>
        </p:txBody>
      </p:sp>
      <p:sp>
        <p:nvSpPr>
          <p:cNvPr id="12" name="TextBox 11">
            <a:extLst>
              <a:ext uri="{FF2B5EF4-FFF2-40B4-BE49-F238E27FC236}">
                <a16:creationId xmlns:a16="http://schemas.microsoft.com/office/drawing/2014/main" id="{73F159EA-73C2-2D74-7AC1-B67E075B4064}"/>
              </a:ext>
            </a:extLst>
          </p:cNvPr>
          <p:cNvSpPr txBox="1"/>
          <p:nvPr/>
        </p:nvSpPr>
        <p:spPr>
          <a:xfrm>
            <a:off x="6096000" y="4627727"/>
            <a:ext cx="2753446" cy="369332"/>
          </a:xfrm>
          <a:prstGeom prst="rect">
            <a:avLst/>
          </a:prstGeom>
          <a:noFill/>
        </p:spPr>
        <p:txBody>
          <a:bodyPr wrap="none" rtlCol="0">
            <a:spAutoFit/>
          </a:bodyPr>
          <a:lstStyle/>
          <a:p>
            <a:r>
              <a:rPr lang="en-IN" dirty="0"/>
              <a:t>LOCAL BRANCH PREDICTOR</a:t>
            </a:r>
          </a:p>
        </p:txBody>
      </p:sp>
    </p:spTree>
    <p:extLst>
      <p:ext uri="{BB962C8B-B14F-4D97-AF65-F5344CB8AC3E}">
        <p14:creationId xmlns:p14="http://schemas.microsoft.com/office/powerpoint/2010/main" val="2609528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0C218-DD3A-FD79-A80E-EC6BDCDEDEE3}"/>
              </a:ext>
            </a:extLst>
          </p:cNvPr>
          <p:cNvSpPr>
            <a:spLocks noGrp="1"/>
          </p:cNvSpPr>
          <p:nvPr>
            <p:ph type="title"/>
          </p:nvPr>
        </p:nvSpPr>
        <p:spPr>
          <a:xfrm>
            <a:off x="329046" y="0"/>
            <a:ext cx="5521036" cy="768927"/>
          </a:xfrm>
        </p:spPr>
        <p:txBody>
          <a:bodyPr/>
          <a:lstStyle/>
          <a:p>
            <a:r>
              <a:rPr lang="en-IN" b="1" u="sng" dirty="0"/>
              <a:t>Concept of ALIASING : </a:t>
            </a:r>
          </a:p>
        </p:txBody>
      </p:sp>
      <p:pic>
        <p:nvPicPr>
          <p:cNvPr id="5" name="Content Placeholder 4">
            <a:extLst>
              <a:ext uri="{FF2B5EF4-FFF2-40B4-BE49-F238E27FC236}">
                <a16:creationId xmlns:a16="http://schemas.microsoft.com/office/drawing/2014/main" id="{A560F1E3-7203-2881-DB85-C4B110B569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454" y="768927"/>
            <a:ext cx="10945091" cy="6089074"/>
          </a:xfrm>
          <a:prstGeom prst="rect">
            <a:avLst/>
          </a:prstGeom>
        </p:spPr>
      </p:pic>
    </p:spTree>
    <p:extLst>
      <p:ext uri="{BB962C8B-B14F-4D97-AF65-F5344CB8AC3E}">
        <p14:creationId xmlns:p14="http://schemas.microsoft.com/office/powerpoint/2010/main" val="368536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1816E-3D7B-D3D4-E9BA-64D06E29391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DD3CCA0-8774-6B8D-301F-E42065A016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560" y="81280"/>
            <a:ext cx="11216639" cy="6695439"/>
          </a:xfrm>
          <a:prstGeom prst="rect">
            <a:avLst/>
          </a:prstGeom>
        </p:spPr>
      </p:pic>
    </p:spTree>
    <p:extLst>
      <p:ext uri="{BB962C8B-B14F-4D97-AF65-F5344CB8AC3E}">
        <p14:creationId xmlns:p14="http://schemas.microsoft.com/office/powerpoint/2010/main" val="1697965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CFE0F-FB30-BF2B-BF17-D2CBF8BDC0C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EBDE7A2-E569-0DED-D60F-53C8C3E91A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365124"/>
            <a:ext cx="10439400" cy="5944235"/>
          </a:xfrm>
          <a:prstGeom prst="rect">
            <a:avLst/>
          </a:prstGeom>
        </p:spPr>
      </p:pic>
    </p:spTree>
    <p:extLst>
      <p:ext uri="{BB962C8B-B14F-4D97-AF65-F5344CB8AC3E}">
        <p14:creationId xmlns:p14="http://schemas.microsoft.com/office/powerpoint/2010/main" val="2454468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TotalTime>
  <Words>400</Words>
  <Application>Microsoft Office PowerPoint</Application>
  <PresentationFormat>Widescreen</PresentationFormat>
  <Paragraphs>28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BRANCH PREDICTION UNIT (BPU)</vt:lpstr>
      <vt:lpstr>What is branch prediction and why we need it inside a processor?</vt:lpstr>
      <vt:lpstr>PowerPoint Presentation</vt:lpstr>
      <vt:lpstr>CONTROL HAZARD</vt:lpstr>
      <vt:lpstr>here because the branch instruction condition is getting checked at EX stage the processor loads the next two instructions sequentially which is wrong if the branch is taken and condition satisfied and this leads to the flushing of the pipeline and loading the correct instructions again and spoiling the pipeline and thus spoiling the IPC of the processor </vt:lpstr>
      <vt:lpstr>PowerPoint Presentation</vt:lpstr>
      <vt:lpstr>Choosing the GEM5 as the simulator to work on the RISCV isa processor </vt:lpstr>
      <vt:lpstr>PowerPoint Presentation</vt:lpstr>
      <vt:lpstr>Concept of ALIASING :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SETHURATHNAM SESHADRI</dc:creator>
  <cp:lastModifiedBy>SETHURATHNAM SESHADRI</cp:lastModifiedBy>
  <cp:revision>1</cp:revision>
  <dcterms:created xsi:type="dcterms:W3CDTF">2026-04-11T11:41:01Z</dcterms:created>
  <dcterms:modified xsi:type="dcterms:W3CDTF">2026-04-11T13:55:08Z</dcterms:modified>
</cp:coreProperties>
</file>